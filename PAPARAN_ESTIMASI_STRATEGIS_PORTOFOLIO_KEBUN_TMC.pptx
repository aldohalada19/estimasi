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4E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463040"/>
            <a:ext cx="2926080" cy="347472"/>
          </a:xfrm>
          <a:prstGeom prst="roundRect">
            <a:avLst>
              <a:gd name="adj" fmla="val 39474"/>
            </a:avLst>
          </a:prstGeom>
          <a:solidFill>
            <a:srgbClr val="065F46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46304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EE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ESTIMASI PORTOFOLIO LAHAN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PAPARAN ESTIMASI STRATEGIS</a:t>
            </a:r>
            <a:endParaRPr lang="en-US" sz="28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PORTOFOLIO KEBUN TMC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347472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7F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Rencana Pencapaian Target Pasokan Mandiri 10% Pabrik Kelapa Terpadu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14400" y="4114800"/>
            <a:ext cx="10332720" cy="0"/>
          </a:xfrm>
          <a:prstGeom prst="line">
            <a:avLst/>
          </a:prstGeom>
          <a:noFill/>
          <a:ln w="19050">
            <a:solidFill>
              <a:srgbClr val="04785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4434840"/>
            <a:ext cx="10332720" cy="1234440"/>
          </a:xfrm>
          <a:prstGeom prst="roundRect">
            <a:avLst>
              <a:gd name="adj" fmla="val 7407"/>
            </a:avLst>
          </a:prstGeom>
          <a:solidFill>
            <a:srgbClr val="022C22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4572000"/>
            <a:ext cx="98755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BASIS DATA SKENARIO TERVERIFIKASI:
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Skenario 3 Blok (2.379 Ha) [Kebun TMC + Binjeita + Lahan Ekspansi] - 23.47
</a:t>
            </a:r>
            <a:pPr indent="0" marL="0">
              <a:buNone/>
            </a:pPr>
            <a:r>
              <a:rPr lang="en-US" sz="950" dirty="0">
                <a:solidFill>
                  <a:srgbClr val="99F6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Total Lahan: 2.379 Ha  |  Total Populasi: 120.030 Pohon  |  Output: 2.400.600 Butir / 3 Bulan (40.010 Butir/HK)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14400" y="621792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E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TRI MUSTIKA CEMERLANG • DIVISI ESTIMASI &amp; PENGEMBANGAN LAHAN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PORTOFOLIO KEBUN TMC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836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Latar Belakang &amp; Mandat Target Pasokan Mandiri 10%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106984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371600"/>
            <a:ext cx="10698480" cy="1371600"/>
          </a:xfrm>
          <a:prstGeom prst="roundRect">
            <a:avLst>
              <a:gd name="adj" fmla="val 5333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481328"/>
            <a:ext cx="10149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Kapasitas Olah Pabrik &amp; Urgensi Pasokan:
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Pabrik kelapa terpadu TMC memiliki kapasitas olah sebesar </a:t>
            </a:r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8.000.000 butir/bulan (24.000.000 butir per 3 bulan / 96.000.000 butir/tahun)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dengan operasional 20 Hari Kerja/bulan (400.000 butir/HK).
</a:t>
            </a:r>
            <a:pPr indent="0" marL="0">
              <a:buNone/>
            </a:pPr>
            <a:r>
              <a:rPr lang="en-US" sz="95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Mandat Kebijakan Direksi: 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Menetapkan target pasokan mandiri sebesar </a:t>
            </a:r>
            <a:pPr indent="0" marL="0">
              <a:buNone/>
            </a:pPr>
            <a:r>
              <a:rPr lang="en-US" sz="95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 (2.400.000 butir / 3 bulan atau 40.000 butir / HK) 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guna menjamin buffer stock, menstabilkan HPP, serta melindungi pabrik dari fluktuasi harga dan kelangkaan bahan baku di pasar bebas.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9718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312724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KEBUTUHAN PABRIK (3 BLN)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3493008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24.000.000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68680" y="4023360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400.000 Butir / HK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456432" y="29718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ECFDF5"/>
          </a:solidFill>
          <a:ln w="19050">
            <a:solidFill>
              <a:srgbClr val="A7F3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93592" y="312724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KEBUN MANDIRI (10%)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593592" y="3493008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2.400.000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93592" y="4023360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40.000 Butir / HK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6181344" y="29718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ECFDF5"/>
          </a:solidFill>
          <a:ln w="19050">
            <a:solidFill>
              <a:srgbClr val="A7F3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18504" y="312724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REALISASI 3 BLOK KEBUN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318504" y="3493008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2.400.600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18504" y="4023360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40.010 Butir / HK (100,03%)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906256" y="29718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FFFBEB"/>
          </a:solidFill>
          <a:ln w="19050">
            <a:solidFill>
              <a:srgbClr val="FDE6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43416" y="3127248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PEMBELIAN PETANI LUAR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9043416" y="3493008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21.599.400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043416" y="4023360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89,99% Total Pabrik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31520" y="4709160"/>
            <a:ext cx="10698480" cy="1325880"/>
          </a:xfrm>
          <a:prstGeom prst="roundRect">
            <a:avLst>
              <a:gd name="adj" fmla="val 5517"/>
            </a:avLst>
          </a:prstGeom>
          <a:solidFill>
            <a:srgbClr val="F0FDF4"/>
          </a:solidFill>
          <a:ln w="19050">
            <a:solidFill>
              <a:srgbClr val="86EFA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05840" y="4846320"/>
            <a:ext cx="10149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 Latar Belakang:
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mencukupi kuota 10% pasokan (2.400.000 butir), perusahaan tidak dapat hanya mengandalkan kebun yang ada saat ini. </a:t>
            </a:r>
            <a:pPr indent="0" marL="0">
              <a:buNone/>
            </a:pPr>
            <a:r>
              <a:rPr lang="en-US" sz="950" b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Diperlukan integrasi strategis antara lahan eksisting (Blok 1), tambahan deal akuisisi (Blok 2), serta penetapan alokasi lahan ekspansi baru (Blok 3) seluas 2.044 Ha.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31520" y="64008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Tri Mustika Cemerlang (TMC) • Divisi Estimasi &amp; Pengembangan Kebun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of 6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PORTOFOLIO KEBUN TMC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836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Analisis Bertahap Portofolio Lahan Menuju Target 10%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106984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371600"/>
            <a:ext cx="3410712" cy="3566160"/>
          </a:xfrm>
          <a:prstGeom prst="roundRect">
            <a:avLst>
              <a:gd name="adj" fmla="val 2145"/>
            </a:avLst>
          </a:prstGeom>
          <a:solidFill>
            <a:srgbClr val="FFFFFF"/>
          </a:solidFill>
          <a:ln w="25400">
            <a:solidFill>
              <a:srgbClr val="04785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536192"/>
            <a:ext cx="2103120" cy="256032"/>
          </a:xfrm>
          <a:prstGeom prst="roundRect">
            <a:avLst>
              <a:gd name="adj" fmla="val 21429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536192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TAHAP 1: EKSISTING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914400" y="1874520"/>
            <a:ext cx="3044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Blok 1 (Kebun TMC)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24028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Lahan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2377440" y="2240280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Eksisting (Milik Sendiri)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914400" y="2523744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Luas Lahan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377440" y="252374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Ha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914400" y="280720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Kerapatan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377440" y="2807208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Pohon / Ha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914400" y="3090672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Populasi Pohon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377440" y="3090672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10.000 Pohon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914400" y="337413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Usia Rata-rata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377440" y="3374136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Thn (Puncak 100%)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14400" y="365760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Yield Panen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377440" y="3657600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Butir / Pohon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914400" y="3941064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Hasil / 3 Bulan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377440" y="394106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200.000 Butir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914400" y="422452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Pasokan Harian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377440" y="4224528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3.333 Butir / HK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914400" y="4507992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Porsi Target 10%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377440" y="4507992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8,33% (Baru 0,83% Pabrik)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370832" y="1371600"/>
            <a:ext cx="3410712" cy="3566160"/>
          </a:xfrm>
          <a:prstGeom prst="roundRect">
            <a:avLst>
              <a:gd name="adj" fmla="val 2145"/>
            </a:avLst>
          </a:prstGeom>
          <a:solidFill>
            <a:srgbClr val="FFFFFF"/>
          </a:solidFill>
          <a:ln w="25400">
            <a:solidFill>
              <a:srgbClr val="0284C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53712" y="1536192"/>
            <a:ext cx="2103120" cy="256032"/>
          </a:xfrm>
          <a:prstGeom prst="roundRect">
            <a:avLst>
              <a:gd name="adj" fmla="val 21429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53712" y="1536192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TAHAP 2: DEAL BARU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553712" y="1874520"/>
            <a:ext cx="3044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Blok 2 (Binjeita)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53712" y="224028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Lahan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016752" y="2240280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 Akuisisi (135 Ha)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553712" y="2523744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Luas Lahan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016752" y="252374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135 Ha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553712" y="280720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Kerapatan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016752" y="2807208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 Pohon / Ha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553712" y="3090672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Populasi Pohon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016752" y="3090672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7.830 Pohon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553712" y="337413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Usia Rata-rata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016752" y="3374136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Thn (Puncak 100%)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553712" y="365760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Yield Panen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016752" y="3657600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Butir / Pohon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4553712" y="3941064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Hasil / 3 Bulan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016752" y="394106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156.600 Butir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4553712" y="422452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Pasokan Harian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016752" y="4224528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2.610 Butir / HK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553712" y="4507992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Porsi Target 10%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016752" y="4507992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6,53% (Baru 0,65% Pabrik)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8010144" y="1371600"/>
            <a:ext cx="3410712" cy="3566160"/>
          </a:xfrm>
          <a:prstGeom prst="roundRect">
            <a:avLst>
              <a:gd name="adj" fmla="val 2145"/>
            </a:avLst>
          </a:prstGeom>
          <a:solidFill>
            <a:srgbClr val="FAF5FF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193024" y="1536192"/>
            <a:ext cx="2103120" cy="256032"/>
          </a:xfrm>
          <a:prstGeom prst="roundRect">
            <a:avLst>
              <a:gd name="adj" fmla="val 21429"/>
            </a:avLst>
          </a:prstGeom>
          <a:solidFill>
            <a:srgbClr val="F3E8FF"/>
          </a:solidFill>
          <a:ln w="12700">
            <a:solidFill>
              <a:srgbClr val="F3E8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193024" y="1536192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B21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TAHAP 3: EKSPANSI KEBUN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8193024" y="1874520"/>
            <a:ext cx="3044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Blok 3 (Lahan Ekspansi)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193024" y="224028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Lahan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9656064" y="2240280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Kebutuhan Lahan Baru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8193024" y="2523744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Luas Lahan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9656064" y="252374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2.044 Ha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8193024" y="280720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Kerapatan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9656064" y="2807208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Pohon / Ha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8193024" y="3090672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Populasi Pohon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9656064" y="3090672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102.200 Pohon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8193024" y="337413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Usia Rata-rata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9656064" y="3374136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Thn (Puncak 100%)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8193024" y="365760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Yield Panen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9656064" y="3657600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Butir / Pohon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8193024" y="3941064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Hasil / 3 Bulan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9656064" y="394106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2.044.000 Butir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8193024" y="422452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Pasokan Harian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9656064" y="4224528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34.067 Butir / HK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8193024" y="4507992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Porsi Target 10%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9656064" y="4507992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85,17% (Penutup Defisit)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731520" y="5102352"/>
            <a:ext cx="10698480" cy="1143000"/>
          </a:xfrm>
          <a:prstGeom prst="roundRect">
            <a:avLst>
              <a:gd name="adj" fmla="val 6400"/>
            </a:avLst>
          </a:prstGeom>
          <a:solidFill>
            <a:srgbClr val="FEF2F2"/>
          </a:solidFill>
          <a:ln w="19050">
            <a:solidFill>
              <a:srgbClr val="FCA5A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005840" y="5193792"/>
            <a:ext cx="10149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ANALISIS GAP PASOKAN (KUNCI KEPUTUSAN EKSEKUTIF):
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Akumulasi Blok 1 + Blok 2 (335 Ha) baru menghasilkan </a:t>
            </a:r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356.600 butir / 3 bulan (14,86% dari target 10%).
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Masih terdapat DEFISIT sebesar </a:t>
            </a:r>
            <a:pPr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2.043.400 butir per 3 bulan (34.057 butir/HK). 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Oleh karena itu, penyediaan Blok 3 seluas 2.044 Ha adalah mutlak agar defisit tertutup 100%.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731520" y="64008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Tri Mustika Cemerlang (TMC) • Divisi Estimasi &amp; Pengembangan Kebun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of 6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PORTOFOLIO KEBUN TMC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836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Matriks Komparasi Portofolio Kumulatif (2.379 Ha)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106984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17320"/>
          <a:ext cx="106984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920240"/>
                <a:gridCol w="1920240"/>
                <a:gridCol w="2194560"/>
                <a:gridCol w="201168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 Parameter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Blok 1 (Kebun TMC)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Blok 2 (Binjeita)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Blok 3 (Lahan Ekspansi)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64E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PORTOFOLIO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Lahan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Eksisting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Deal 135 Ha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Lahan Baru Diperlukan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478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Target Terpenuhi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Luas Lahan (Ha)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 Ha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 Ha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2.044 Ha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2.379 Ha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Kerapatan Pohon / Ha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Pohon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 Pohon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Pohon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50,5 Pohon (Rata-rata)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Populasi Pohon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7.830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102.200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120.030 Pohon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Usia Rata-rata Pohon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Thn (Puncak 100%)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Thn (Puncak 100%)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Thn (Puncak 100%)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Thn (Puncak 100%)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Yield / Pohon / Panen (3 Bln)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Butir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Butir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Butir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Butir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Hasil / Siklus (3 Bulan)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200.000 Butir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156.600 Butir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2.044.000 Butir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64E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2.400.600 Butir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Pasokan Harian (60 HK)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3.333 Btr/HK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2.610 Btr/HK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34.067 Btr/HK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64E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40.010 Btr/HK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Porsi Pemenuhan Target 10%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8,33%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85,17%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64E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100,03% (TUNTAS)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Coverage terhadap Total Pabrik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0,65%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8,52%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64E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10,00% (Sesuai Target)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31520" y="64008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Tri Mustika Cemerlang (TMC) • Divisi Estimasi &amp; Pengembangan Kebun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of 6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PORTOFOLIO KEBUN TMC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836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Neraca Alokasi Pasokan Pabrik (Siklus &amp; Tahunan)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106984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371600"/>
            <a:ext cx="5212080" cy="3200400"/>
          </a:xfrm>
          <a:prstGeom prst="roundRect">
            <a:avLst>
              <a:gd name="adj" fmla="val 228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5361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ALOKASI PASOKAN / 3 BULAN (SIKLUS PANEN)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14400" y="1965960"/>
            <a:ext cx="4846320" cy="1051560"/>
          </a:xfrm>
          <a:prstGeom prst="roundRect">
            <a:avLst>
              <a:gd name="adj" fmla="val 5217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057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KEBUN MANDIRI TMC (3 BLOK): 10,00%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1560" y="235915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2.400.600 Butir / 3 Bulan (40.010 Butir / HK)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" y="3154680"/>
            <a:ext cx="4846320" cy="1051560"/>
          </a:xfrm>
          <a:prstGeom prst="roundRect">
            <a:avLst>
              <a:gd name="adj" fmla="val 5217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32461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PEMBELIAN DARI PETANI LUAR: 90,00%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51560" y="354787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21.599.400 Butir / 3 Bulan (359.990 Butir / HK)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1371600"/>
            <a:ext cx="5212080" cy="3200400"/>
          </a:xfrm>
          <a:prstGeom prst="roundRect">
            <a:avLst>
              <a:gd name="adj" fmla="val 228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15361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ALOKASI PASOKAN TAHUNAN (4x SIKLUS PANEN)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0" y="1965960"/>
            <a:ext cx="4846320" cy="1051560"/>
          </a:xfrm>
          <a:prstGeom prst="roundRect">
            <a:avLst>
              <a:gd name="adj" fmla="val 5217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37960" y="2057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MANDIRI TAHUNAN: 10,00%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537960" y="235915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9.602.400 Butir / Tahun (Buffer Pasokan)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0" y="3154680"/>
            <a:ext cx="4846320" cy="1051560"/>
          </a:xfrm>
          <a:prstGeom prst="roundRect">
            <a:avLst>
              <a:gd name="adj" fmla="val 5217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32461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BELI LUAR TAHUNAN: 90,00%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537960" y="354787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86.397.600 Butir / Tahun (Mitra Petani)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" y="4754880"/>
            <a:ext cx="3410712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4892040"/>
            <a:ext cx="3136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KONTROL MUTU &amp; GRADING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68680" y="5257800"/>
            <a:ext cx="313639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Bahan baku dari kebun sendiri terjamin umur petik optimal dan ukuran butir seragam.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370832" y="4754880"/>
            <a:ext cx="3410712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07992" y="4892040"/>
            <a:ext cx="3136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MITIGASI FLUKTUASI HARGA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07992" y="5257800"/>
            <a:ext cx="313639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Menurunkan sensitivitas biaya produksi saat lonjakan harga kelapa di pasar bebas.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8010144" y="4754880"/>
            <a:ext cx="3410712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147304" y="4892040"/>
            <a:ext cx="3136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BUFFER KELANGKAAN PASOKAN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147304" y="5257800"/>
            <a:ext cx="313639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Pabrik tetap dapat beroperasi secara kontinyu saat terjadi kendala panen di petani mitra.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731520" y="64008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Tri Mustika Cemerlang (TMC) • Divisi Estimasi &amp; Pengembangan Kebun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of 6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PORTOFOLIO KEBUN TMC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8368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Kesimpulan Portofolio &amp; Rekomendasi Investasi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106984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17320"/>
            <a:ext cx="10698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17320"/>
            <a:ext cx="137160" cy="1234440"/>
          </a:xfrm>
          <a:prstGeom prst="roundRect">
            <a:avLst>
              <a:gd name="adj" fmla="val 33333"/>
            </a:avLst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58191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00200" y="1581912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Finalisasi Akuisisi Blok 2 (Binjeita 135 Ha)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600200" y="192024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Mempercepat penyelesaian proses kesepakatan (deal) lahan Binjeita seluas 135 Ha dengan estimasi kontribusi 156.600 butir/3 bulan (2.610 butir/HK). Langkah ini menaikkan rasio pasokan mandiri menjadi 14,86% dari target kebun.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31520" y="2788920"/>
            <a:ext cx="10698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2788920"/>
            <a:ext cx="137160" cy="1234440"/>
          </a:xfrm>
          <a:prstGeom prst="roundRect">
            <a:avLst>
              <a:gd name="adj" fmla="val 33333"/>
            </a:avLst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295351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600200" y="2953512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Alokasi Capex Lahan Ekspansi Blok 3 (2.044 Ha)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00200" y="329184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Mengesahkan penganggaran modal (CAPEX) untuk akuisisi/pembukaan lahan ekspansi Blok 3 seluas 2.044 Ha. Blok 3 adalah penentu utama yang menyumbang 85,17% dari target mandat 10% (2.044.000 butir/3 bulan).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31520" y="4160520"/>
            <a:ext cx="10698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160520"/>
            <a:ext cx="137160" cy="1234440"/>
          </a:xfrm>
          <a:prstGeom prst="roundRect">
            <a:avLst>
              <a:gd name="adj" fmla="val 3333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432511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600200" y="4325112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Standarisasi Agronomi &amp; Infrastruktur Logistik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600200" y="466344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Menerapkan protokol budidaya kelapa produktif terpadu dengan target kerapatan rata-rata 50,5 pohon/Ha dan produktivitas minimal 20 butir/pohon/panen, didukung konektivitas armada angkut langsung menuju pabrik TMC.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31520" y="5623560"/>
            <a:ext cx="10698480" cy="594360"/>
          </a:xfrm>
          <a:prstGeom prst="roundRect">
            <a:avLst>
              <a:gd name="adj" fmla="val 9231"/>
            </a:avLst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5650992"/>
            <a:ext cx="103327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RINGKASAN EKSEKUTIF: Portofolio 3 Blok seluas 2.379 Ha (120.030 pohon) menghasilkan 2.400.600 butir/3 bulan, TUNTAS memenuhi 100,03% dari target mandat pasokan mandiri 10% pabrik kelapa TMC.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31520" y="64008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Tri Mustika Cemerlang (TMC) • Divisi Estimasi &amp; Pengembangan Kebun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of 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TMC Estate Division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PAPARAN ESTIMASI STRATEGIS PORTOFOLIO KEBUN TMC</dc:title>
  <dc:subject>Rencana Pencapaian Target Pasokan Mandiri 10% Pabrik Kelapa Terpadu</dc:subject>
  <dc:creator>PT Tri Mustika Cemerlang (TMC)</dc:creator>
  <cp:lastModifiedBy>PT Tri Mustika Cemerlang (TMC)</cp:lastModifiedBy>
  <cp:revision>1</cp:revision>
  <dcterms:created xsi:type="dcterms:W3CDTF">2026-09-29T15:52:09Z</dcterms:created>
  <dcterms:modified xsi:type="dcterms:W3CDTF">2026-09-29T15:52:09Z</dcterms:modified>
</cp:coreProperties>
</file>