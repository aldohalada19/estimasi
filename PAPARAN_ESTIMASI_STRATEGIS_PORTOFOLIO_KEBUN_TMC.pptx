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ESTIMASI PORTOFOLIO LAHAN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PAPARAN ESTIMASI STRATEGIS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Pencapaian Target Pasokan Mandiri 10% Pabrik Kelapa Terpadu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32720" cy="0"/>
          </a:xfrm>
          <a:prstGeom prst="line">
            <a:avLst/>
          </a:prstGeom>
          <a:noFill/>
          <a:ln w="19050">
            <a:solidFill>
              <a:srgbClr val="0478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434840"/>
            <a:ext cx="10332720" cy="1234440"/>
          </a:xfrm>
          <a:prstGeom prst="roundRect">
            <a:avLst>
              <a:gd name="adj" fmla="val 7407"/>
            </a:avLst>
          </a:prstGeom>
          <a:solidFill>
            <a:srgbClr val="022C22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457200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DATA SKENARIO TERVERIFIKASI: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Skenario 3 Blok (2.379 Ha) [Kebun TMC + Binjeita + Lahan Ekspansi] - 23.47
</a:t>
            </a:r>
            <a:pPr indent="0" marL="0">
              <a:buNone/>
            </a:pPr>
            <a:r>
              <a:rPr lang="en-US" sz="950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Lahan: 2.379 Ha  |  Total Populasi: 120.030 Pohon  |  Output: 2.400.600 Butir / 3 Bulan (40.010 Butir/HK)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6217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Kebutuhan Pasokan Kelapa TMC: Target Supply Kebun Mandiri 10% / Hari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6984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Kebutuhan Produksi Pabrik: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bahan baku produksi pabrik pengolahan kelapa terpadu TMC ditetapkan sebesar 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400.000 butir kelapa/hari kerja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 HK/bulan = 8.000.000 butir/bulan atau 24.000.000 butir per kuartal 3 bulan) yang harus dipenuhi secara stabil dan berkesinambungan.
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Kebutuhan Perusahaan: Supply dari Perkebunan TMC (10% Target Harian):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menetapkan pemenuhan pasokan dari kebun internal sebesar </a:t>
            </a:r>
            <a:pPr indent="0" marL="0">
              <a:buNone/>
            </a:pPr>
            <a:r>
              <a:rPr lang="en-US" sz="8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per hari (40.000 butir/hari kerja atau 2.400.000 butir per kuartal 3 bulan)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 menjaga stabilitas HPP serta menjamin buffer stock operasional pabrik.
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Realisasi Saat Ini - Perkebunan TMC Eksisting (Blok 1):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 hasil panen saat ini di seluruh kebun produktif TMC (Blok 1 seluas 200 Ha), produksi per kuartal (3 bulan) telah mencapai </a:t>
            </a:r>
            <a:pPr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hampir 200.000 butir kelapa (3.333 butir/HK).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ini telah menutup 8,33% kebutuhan supply kebun internal (0,83% kebutuhan produksi pabrik), sehingga sisa kebutuhan sebesar 2.200.000 butir/kuartal diselesaikan melalui ekspansi lahan baru.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PRODUKSI PABRIK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400.000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Butir/Hari (24 Juta/3 Bln)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56432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SUPPLY KEBUN (10%)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93592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40.000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93592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Butir/Hari (2,4 Juta/3 Bln)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81344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SAAT INI (BLOK 1)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318504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~200.000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18504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Butir/3 Bln (3.333 Btr/HK)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906256" y="3017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3154680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3 BLOK KEBUN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43416" y="34930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043416" y="40050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40.010 Butir/HK (100,03%)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31520" y="4709160"/>
            <a:ext cx="10698480" cy="1325880"/>
          </a:xfrm>
          <a:prstGeom prst="roundRect">
            <a:avLst>
              <a:gd name="adj" fmla="val 5517"/>
            </a:avLst>
          </a:prstGeom>
          <a:solidFill>
            <a:srgbClr val="F0FDF4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4846320"/>
            <a:ext cx="10149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Analisis Pasokan: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Realisasi panen kebun eksisting (Blok 1) yang mencapai hampir 200.000 butir per kuartal membuktikan kelayakan produktivitas kebun TMC. </a:t>
            </a:r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 memenuhi target supply harian 10% (40.000 butir/HK), akuisisi Blok 2 (Binjeita 135 Ha) dan pengalokasian Blok 3 (Ekspansi 2.044 Ha) secara definitif menuntaskan sisa defisit 2.200.000 butir kelapa.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Analisis Bertahap Portofolio Lahan Menuju Target 10%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478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1: EKSISTING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1 (Kebun TMC)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77440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Eksisting (Milik Sendiri)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Ha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77440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377440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Pohon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77440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7440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200.000 Butir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14400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3.333 Butir / HK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4400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77440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8,33% (Baru 0,83% Pabrik)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370832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3712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2: DEAL BARU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53712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2 (Binjeita)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53712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016752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Akuisisi (135 Ha)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53712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016752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Ha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53712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16752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Pohon / Ha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53712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16752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7.830 Pohon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53712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016752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53712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16752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53712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016752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156.600 Butir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53712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16752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2.610 Butir / HK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53712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016752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6,53% (Baru 0,65% Pabrik)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010144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AF5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93024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93024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2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3: EKSPANSI KEBUN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193024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3 (Lahan Ekspansi)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93024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656064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Lahan Baru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193024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656064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 Ha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193024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9656064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193024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656064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102.200 Pohon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193024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656064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193024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656064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93024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656064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2.044.000 Butir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8193024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9656064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34.067 Butir / HK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193024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9656064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85,17% (Penutup Defisit)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31520" y="5102352"/>
            <a:ext cx="10698480" cy="1143000"/>
          </a:xfrm>
          <a:prstGeom prst="roundRect">
            <a:avLst>
              <a:gd name="adj" fmla="val 6400"/>
            </a:avLst>
          </a:prstGeom>
          <a:solidFill>
            <a:srgbClr val="FEF2F2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05840" y="5193792"/>
            <a:ext cx="10149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GAP PASOKAN (KUNCI KEPUTUSAN EKSEKUTIF):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Akumulasi Blok 1 + Blok 2 (335 Ha) baru menghasilkan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356.600 butir / 3 bulan (14,86% dari target 10%).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Masih terdapat DEFISIT sebesar </a:t>
            </a:r>
            <a:pPr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2.043.400 butir per 3 bulan (34.057 butir/HK).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karena itu, penyediaan Blok 3 seluas 2.044 Ha adalah mutlak agar defisit tertutup 100%.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Matriks Komparasi Portofolio Kumulatif (2.379 Ha)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698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1920240"/>
                <a:gridCol w="219456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 Parameter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1 (Kebun TMC)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2 (Binjeita)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3 (Lahan Ekspansi)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PORTOFOLIO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Lahan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Eksisting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 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Lahan Baru Diperlukan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478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Target Terpenuhi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Luas Lahan (Ha)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2.379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Kerapatan Pohon /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 Pohon (Rata-rata)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Populasi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120.030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Usia Rata-rata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 / Pohon / Panen (3 Bln)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Hasil / Siklus (3 Bulan)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Pasokan Harian (60 HK)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3.333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34.067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Porsi Pemenuhan Target 10%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100,03% (TUNTAS)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 terhadap Total Pabrik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10,00% (Sesuai Target)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of 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Neraca Alokasi Pasokan Pabrik (Siklus &amp; Tahunan)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/ 3 BULAN (SIKLUS PANEN)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KEBUN MANDIRI TMC (3 BLOK): 10,00%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 Butir / 3 Bulan (40.010 Butir / HK)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PEMBELIAN DARI PETANI LUAR: 90,00%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21.599.400 Butir / 3 Bulan (359.990 Butir / HK)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TAHUNAN (4x SIKLUS PANEN)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MANDIRI TAHUNAN: 10,00%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79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9.602.400 Butir / Tahun (Buffer Pasokan)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BELI LUAR TAHUNAN: 90,00%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379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86.397.600 Butir / Tahun (Mitra Petani)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KONTROL MUTU &amp; GRADING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Bahan baku dari kebun sendiri terjamin umur petik optimal dan ukuran butir seragam.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370832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07992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MITIGASI FLUKTUASI HARGA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07992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Menurunkan sensitivitas biaya produksi saat lonjakan harga kelapa di pasar bebas.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010144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304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BUFFER KELANGKAAN PASOKAN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147304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Pabrik tetap dapat beroperasi secara kontinyu saat terjadi kendala panen di petani mitra.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of 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Kesimpulan Portofolio &amp; Rekomendasi Investasi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819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15819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Finalisasi Akuisisi Blok 2 (Binjeita 135 Ha)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Mempercepat penyelesaian proses kesepakatan (deal) lahan Binjeita seluas 135 Ha dengan estimasi kontribusi 156.600 butir/3 bulan (2.610 butir/HK). Langkah ini menaikkan rasio pasokan mandiri menjadi 14,86% dari target kebun.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889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9535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29535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Capex Lahan Ekspansi Blok 3 (2.044 Ha)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32918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Mengesahkan penganggaran modal (CAPEX) untuk akuisisi/pembukaan lahan ekspansi Blok 3 seluas 2.044 Ha. Blok 3 adalah penentu utama yang menyumbang 85,17% dari target kebutuhan supply 10% kebun TMC (2.044.000 butir/3 bulan).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1605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325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3251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Standarisasi Agronomi &amp; Infrastruktur Logistik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00200" y="4663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Menerapkan protokol budidaya kelapa produktif terpadu dengan target kerapatan rata-rata 50,5 pohon/Ha dan produktivitas minimal 20 butir/pohon/panen, didukung konektivitas armada angkut langsung menuju pabrik TMC.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5623560"/>
            <a:ext cx="10698480" cy="594360"/>
          </a:xfrm>
          <a:prstGeom prst="roundRect">
            <a:avLst>
              <a:gd name="adj" fmla="val 9231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650992"/>
            <a:ext cx="10332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EKSEKUTIF: Portofolio 3 Blok seluas 2.379 Ha (120.030 pohon) menghasilkan 2.400.600 butir/3 bulan, TUNTAS memenuhi 100% kebutuhan supply perkebunan TMC (10% target harian produksi pabrik 400.000 butir kelapa/hari).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PERKEBUNAN TMC (MEMBER OF RAI)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of 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TMC Estate Division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ESTIMASI STRATEGIS PORTOFOLIO KEBUN TMC</dc:title>
  <dc:subject>Rencana Pencapaian Target Pasokan Mandiri 10% Pabrik Kelapa Terpadu</dc:subject>
  <dc:creator>PT Tri Mustika Cemerlang (TMC)</dc:creator>
  <cp:lastModifiedBy>PT Tri Mustika Cemerlang (TMC)</cp:lastModifiedBy>
  <cp:revision>1</cp:revision>
  <dcterms:created xsi:type="dcterms:W3CDTF">2026-09-29T18:51:28Z</dcterms:created>
  <dcterms:modified xsi:type="dcterms:W3CDTF">2026-09-29T18:51:28Z</dcterms:modified>
</cp:coreProperties>
</file>