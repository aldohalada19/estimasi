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4E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463040"/>
            <a:ext cx="2926080" cy="347472"/>
          </a:xfrm>
          <a:prstGeom prst="roundRect">
            <a:avLst>
              <a:gd name="adj" fmla="val 39474"/>
            </a:avLst>
          </a:prstGeom>
          <a:solidFill>
            <a:srgbClr val="065F46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146304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EE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ESTIMASI PORTOFOLIO LAHAN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PAPARAN ESTIMASI STRATEGIS</a:t>
            </a:r>
            <a:endParaRPr lang="en-US" sz="28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PORTOFOLIO KEBUN TMC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347472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7F3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Rencana Pencapaian Target Pasokan Mandiri 10% Pabrik Kelapa Terpadu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14400" y="4114800"/>
            <a:ext cx="10332720" cy="0"/>
          </a:xfrm>
          <a:prstGeom prst="line">
            <a:avLst/>
          </a:prstGeom>
          <a:noFill/>
          <a:ln w="19050">
            <a:solidFill>
              <a:srgbClr val="04785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4434840"/>
            <a:ext cx="10332720" cy="1234440"/>
          </a:xfrm>
          <a:prstGeom prst="roundRect">
            <a:avLst>
              <a:gd name="adj" fmla="val 7407"/>
            </a:avLst>
          </a:prstGeom>
          <a:solidFill>
            <a:srgbClr val="022C22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43000" y="4572000"/>
            <a:ext cx="98755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BASIS DATA SKENARIO TERVERIFIKASI:
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Skenario 3 Blok (2.379 Ha) [Kebun TMC + Binjeita + Lahan Ekspansi] - 23.47
</a:t>
            </a:r>
            <a:pPr indent="0" marL="0">
              <a:buNone/>
            </a:pPr>
            <a:r>
              <a:rPr lang="en-US" sz="950" dirty="0">
                <a:solidFill>
                  <a:srgbClr val="99F6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Total Lahan: 2.379 Ha  |  Total Populasi: 120.030 Pohon  |  Output: 2.400.600 Butir / 3 Bulan (40.010 Butir/HK)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914400" y="6217920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EE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PERKEBUNAN TMC (MEMBER OF RAI)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PORTOFOLIO KEBUN TMC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836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Kebutuhan Pasokan Kelapa TMC: Target Supply Kebun Mandiri 10% / Hari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106984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325880"/>
            <a:ext cx="10698480" cy="1508760"/>
          </a:xfrm>
          <a:prstGeom prst="roundRect">
            <a:avLst>
              <a:gd name="adj" fmla="val 4848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389888"/>
            <a:ext cx="101498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Target Kebutuhan Produksi Pabrik: 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Kebutuhan bahan baku produksi pabrik pengolahan kelapa terpadu TMC ditetapkan sebesar </a:t>
            </a:r>
            <a:pPr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400.000 butir kelapa/hari kerja 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(20 HK/bulan = 8.000.000 butir/bulan atau 24.000.000 butir per kuartal 3 bulan) yang harus dipenuhi secara stabil dan berkesinambungan.
</a:t>
            </a:r>
            <a:pPr indent="0" marL="0">
              <a:buNone/>
            </a:pPr>
            <a:r>
              <a:rPr lang="en-US" sz="95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Kebutuhan Perusahaan: Supply dari Perkebunan TMC (10% Target Harian): 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Perusahaan menetapkan pemenuhan pasokan dari kebun internal sebesar </a:t>
            </a:r>
            <a:pPr indent="0" marL="0">
              <a:buNone/>
            </a:pPr>
            <a:r>
              <a:rPr lang="en-US" sz="85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 per hari (40.000 butir/hari kerja atau 2.400.000 butir per kuartal 3 bulan) 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guna menjaga stabilitas HPP serta menjamin buffer stock operasional pabrik.
</a:t>
            </a:r>
            <a:pPr indent="0" marL="0">
              <a:buNone/>
            </a:pPr>
            <a:r>
              <a:rPr lang="en-US" sz="95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Realisasi Saat Ini - Perkebunan TMC Eksisting (Blok 1): 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Sesuai hasil panen saat ini di seluruh kebun produktif TMC (Blok 1 seluas 200 Ha), produksi per kuartal (3 bulan) telah mencapai </a:t>
            </a:r>
            <a:pPr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hampir 200.000 butir kelapa (3.333 butir/HK). 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Hasil ini telah menutup 8,33% kebutuhan supply kebun internal (0,83% kebutuhan produksi pabrik), sehingga sisa kebutuhan sebesar 2.200.000 butir/kuartal diselesaikan melalui ekspansi lahan baru.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2514600" cy="1417320"/>
          </a:xfrm>
          <a:prstGeom prst="roundRect">
            <a:avLst>
              <a:gd name="adj" fmla="val 5161"/>
            </a:avLst>
          </a:prstGeom>
          <a:solidFill>
            <a:srgbClr val="F8FAFC"/>
          </a:solidFill>
          <a:ln w="190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3154680"/>
            <a:ext cx="2240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PRODUKSI PABRIK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68680" y="3493008"/>
            <a:ext cx="2240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400.000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68680" y="4005072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Butir/Hari (24 Juta/3 Bln)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3456432" y="3017520"/>
            <a:ext cx="2514600" cy="1417320"/>
          </a:xfrm>
          <a:prstGeom prst="roundRect">
            <a:avLst>
              <a:gd name="adj" fmla="val 5161"/>
            </a:avLst>
          </a:prstGeom>
          <a:solidFill>
            <a:srgbClr val="ECFDF5"/>
          </a:solidFill>
          <a:ln w="19050">
            <a:solidFill>
              <a:srgbClr val="A7F3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93592" y="3154680"/>
            <a:ext cx="2240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SUPPLY KEBUN (10%)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593592" y="3493008"/>
            <a:ext cx="2240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40.000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593592" y="4005072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Butir/Hari (2,4 Juta/3 Bln)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6181344" y="3017520"/>
            <a:ext cx="2514600" cy="1417320"/>
          </a:xfrm>
          <a:prstGeom prst="roundRect">
            <a:avLst>
              <a:gd name="adj" fmla="val 5161"/>
            </a:avLst>
          </a:prstGeom>
          <a:solidFill>
            <a:srgbClr val="F8FAFC"/>
          </a:solidFill>
          <a:ln w="1905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18504" y="3154680"/>
            <a:ext cx="2240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HASIL SAAT INI (BLOK 1)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318504" y="3493008"/>
            <a:ext cx="2240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~200.000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318504" y="4005072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Butir/3 Bln (3.333 Btr/HK)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8906256" y="3017520"/>
            <a:ext cx="2514600" cy="1417320"/>
          </a:xfrm>
          <a:prstGeom prst="roundRect">
            <a:avLst>
              <a:gd name="adj" fmla="val 5161"/>
            </a:avLst>
          </a:prstGeom>
          <a:solidFill>
            <a:srgbClr val="ECFDF5"/>
          </a:solidFill>
          <a:ln w="19050">
            <a:solidFill>
              <a:srgbClr val="A7F3D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043416" y="3154680"/>
            <a:ext cx="2240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PORTOFOLIO 3 BLOK KEBUN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9043416" y="3493008"/>
            <a:ext cx="2240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2.400.600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043416" y="4005072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40.010 Butir/HK (100,03%)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731520" y="4709160"/>
            <a:ext cx="10698480" cy="1325880"/>
          </a:xfrm>
          <a:prstGeom prst="roundRect">
            <a:avLst>
              <a:gd name="adj" fmla="val 5517"/>
            </a:avLst>
          </a:prstGeom>
          <a:solidFill>
            <a:srgbClr val="F0FDF4"/>
          </a:solidFill>
          <a:ln w="19050">
            <a:solidFill>
              <a:srgbClr val="86EFA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05840" y="4846320"/>
            <a:ext cx="10149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 Analisis Pasokan:
</a:t>
            </a:r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Realisasi panen kebun eksisting (Blok 1) yang mencapai hampir 200.000 butir per kuartal membuktikan kelayakan produktivitas kebun TMC. </a:t>
            </a:r>
            <a:pPr indent="0" marL="0">
              <a:buNone/>
            </a:pPr>
            <a:r>
              <a:rPr lang="en-US" sz="950" b="1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Guna memenuhi target supply harian 10% (40.000 butir/HK), akuisisi Blok 2 (Binjeita 135 Ha) dan pengalokasian Blok 3 (Ekspansi 2.044 Ha) secara definitif menuntaskan sisa defisit 2.200.000 butir kelapa.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31520" y="640080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PERKEBUNAN TMC (MEMBER OF RAI)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 of 7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PORTOFOLIO KEBUN TMC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836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Analisis Bertahap Portofolio Lahan Menuju Target 10%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106984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371600"/>
            <a:ext cx="3410712" cy="3566160"/>
          </a:xfrm>
          <a:prstGeom prst="roundRect">
            <a:avLst>
              <a:gd name="adj" fmla="val 2145"/>
            </a:avLst>
          </a:prstGeom>
          <a:solidFill>
            <a:srgbClr val="FFFFFF"/>
          </a:solidFill>
          <a:ln w="25400">
            <a:solidFill>
              <a:srgbClr val="04785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536192"/>
            <a:ext cx="2103120" cy="256032"/>
          </a:xfrm>
          <a:prstGeom prst="roundRect">
            <a:avLst>
              <a:gd name="adj" fmla="val 21429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536192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TAHAP 1: EKSISTING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914400" y="1874520"/>
            <a:ext cx="3044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Blok 1 (Kebun TMC)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24028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Lahan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2377440" y="2240280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Eksisting (Milik Sendiri)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914400" y="2523744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Luas Lahan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377440" y="2523744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Ha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914400" y="2807208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Kerapatan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377440" y="2807208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Pohon / Ha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914400" y="3090672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Populasi Pohon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2377440" y="3090672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10.000 Pohon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914400" y="3374136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Usia Rata-rata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377440" y="3374136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Thn (Puncak 100%)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14400" y="365760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Yield Panen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377440" y="3657600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Butir / Pohon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914400" y="3941064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Hasil / 3 Bulan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377440" y="3941064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200.000 Butir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914400" y="4224528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Pasokan Harian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377440" y="4224528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3.333 Butir / HK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914400" y="4507992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Porsi Target 10%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377440" y="4507992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8,33% (Baru 0,83% Pabrik)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370832" y="1371600"/>
            <a:ext cx="3410712" cy="3566160"/>
          </a:xfrm>
          <a:prstGeom prst="roundRect">
            <a:avLst>
              <a:gd name="adj" fmla="val 2145"/>
            </a:avLst>
          </a:prstGeom>
          <a:solidFill>
            <a:srgbClr val="FFFFFF"/>
          </a:solidFill>
          <a:ln w="25400">
            <a:solidFill>
              <a:srgbClr val="0284C7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53712" y="1536192"/>
            <a:ext cx="2103120" cy="256032"/>
          </a:xfrm>
          <a:prstGeom prst="roundRect">
            <a:avLst>
              <a:gd name="adj" fmla="val 21429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53712" y="1536192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TAHAP 2: DEAL BARU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553712" y="1874520"/>
            <a:ext cx="3044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Blok 2 (Binjeita)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53712" y="224028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Lahan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016752" y="2240280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 Akuisisi (135 Ha)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553712" y="2523744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Luas Lahan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016752" y="2523744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135 Ha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553712" y="2807208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Kerapatan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016752" y="2807208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 Pohon / Ha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553712" y="3090672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Populasi Pohon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016752" y="3090672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7.830 Pohon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4553712" y="3374136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Usia Rata-rata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6016752" y="3374136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Thn (Puncak 100%)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4553712" y="365760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Yield Panen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016752" y="3657600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Butir / Pohon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4553712" y="3941064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Hasil / 3 Bulan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016752" y="3941064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156.600 Butir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4553712" y="4224528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Pasokan Harian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016752" y="4224528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2.610 Butir / HK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4553712" y="4507992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Porsi Target 10%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6016752" y="4507992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6,53% (Baru 0,65% Pabrik)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8010144" y="1371600"/>
            <a:ext cx="3410712" cy="3566160"/>
          </a:xfrm>
          <a:prstGeom prst="roundRect">
            <a:avLst>
              <a:gd name="adj" fmla="val 2145"/>
            </a:avLst>
          </a:prstGeom>
          <a:solidFill>
            <a:srgbClr val="FAF5FF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193024" y="1536192"/>
            <a:ext cx="2103120" cy="256032"/>
          </a:xfrm>
          <a:prstGeom prst="roundRect">
            <a:avLst>
              <a:gd name="adj" fmla="val 21429"/>
            </a:avLst>
          </a:prstGeom>
          <a:solidFill>
            <a:srgbClr val="F3E8FF"/>
          </a:solidFill>
          <a:ln w="12700">
            <a:solidFill>
              <a:srgbClr val="F3E8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193024" y="1536192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B21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TAHAP 3: EKSPANSI KEBUN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8193024" y="1874520"/>
            <a:ext cx="3044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Blok 3 (Lahan Ekspansi)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8193024" y="224028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Lahan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9656064" y="2240280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Kebutuhan Lahan Baru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8193024" y="2523744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Luas Lahan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9656064" y="2523744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2.044 Ha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8193024" y="2807208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Kerapatan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9656064" y="2807208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Pohon / Ha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8193024" y="3090672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Populasi Pohon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9656064" y="3090672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102.200 Pohon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8193024" y="3374136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Usia Rata-rata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9656064" y="3374136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Thn (Puncak 100%)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8193024" y="365760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Yield Panen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9656064" y="3657600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Butir / Pohon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8193024" y="3941064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Hasil / 3 Bulan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9656064" y="3941064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2.044.000 Butir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8193024" y="4224528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Pasokan Harian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9656064" y="4224528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34.067 Butir / HK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8193024" y="4507992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Porsi Target 10%</a:t>
            </a:r>
            <a:endParaRPr lang="en-US" sz="800" dirty="0"/>
          </a:p>
        </p:txBody>
      </p:sp>
      <p:sp>
        <p:nvSpPr>
          <p:cNvPr id="70" name="Text 68"/>
          <p:cNvSpPr/>
          <p:nvPr/>
        </p:nvSpPr>
        <p:spPr>
          <a:xfrm>
            <a:off x="9656064" y="4507992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85,17% (Penutup Defisit)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731520" y="5102352"/>
            <a:ext cx="10698480" cy="1143000"/>
          </a:xfrm>
          <a:prstGeom prst="roundRect">
            <a:avLst>
              <a:gd name="adj" fmla="val 6400"/>
            </a:avLst>
          </a:prstGeom>
          <a:solidFill>
            <a:srgbClr val="FEF2F2"/>
          </a:solidFill>
          <a:ln w="19050">
            <a:solidFill>
              <a:srgbClr val="FCA5A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1005840" y="5193792"/>
            <a:ext cx="101498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ANALISIS GAP PASOKAN (KUNCI KEPUTUSAN EKSEKUTIF):
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Akumulasi Blok 1 + Blok 2 (335 Ha) baru menghasilkan </a:t>
            </a:r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356.600 butir / 3 bulan (14,86% dari target 10%).
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Masih terdapat DEFISIT sebesar </a:t>
            </a:r>
            <a:pPr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2.043.400 butir per 3 bulan (34.057 butir/HK). 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Oleh karena itu, penyediaan Blok 3 seluas 2.044 Ha adalah mutlak agar defisit tertutup 100%.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731520" y="640080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PERKEBUNAN TMC (MEMBER OF RAI)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of 7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PORTOFOLIO KEBUN TMC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836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Skenario Alternatif: Pemenuhan Target 10% Tanpa Blok 2 (Hanya Blok 1 + Lahan Baru)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106984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371600"/>
            <a:ext cx="3410712" cy="3566160"/>
          </a:xfrm>
          <a:prstGeom prst="roundRect">
            <a:avLst>
              <a:gd name="adj" fmla="val 2145"/>
            </a:avLst>
          </a:prstGeom>
          <a:solidFill>
            <a:srgbClr val="FFFFFF"/>
          </a:solidFill>
          <a:ln w="25400">
            <a:solidFill>
              <a:srgbClr val="04785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536192"/>
            <a:ext cx="2103120" cy="256032"/>
          </a:xfrm>
          <a:prstGeom prst="roundRect">
            <a:avLst>
              <a:gd name="adj" fmla="val 21429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536192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TAHAP 1: EKSISTING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914400" y="1874520"/>
            <a:ext cx="3044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Blok 1 (Kebun TMC)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24028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Lahan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2377440" y="2240280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Eksisting (Milik Sendiri)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914400" y="2523744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Luas Lahan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377440" y="2523744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Ha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914400" y="2807208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Kerapatan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377440" y="2807208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Pohon / Ha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914400" y="3090672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Populasi Pohon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2377440" y="3090672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10.000 Pohon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914400" y="3374136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Usia Rata-rata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377440" y="3374136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Thn (Puncak 100%)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14400" y="365760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Yield Panen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377440" y="3657600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Butir / Pohon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914400" y="3941064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Hasil / 3 Bulan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377440" y="3941064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200.000 Butir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914400" y="4224528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Pasokan Harian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377440" y="4224528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3.333 Butir / HK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914400" y="4507992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Porsi Target 10%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377440" y="4507992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8,33% (Baru 0,83% Pabrik)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370832" y="1371600"/>
            <a:ext cx="3410712" cy="3566160"/>
          </a:xfrm>
          <a:prstGeom prst="roundRect">
            <a:avLst>
              <a:gd name="adj" fmla="val 2145"/>
            </a:avLst>
          </a:prstGeom>
          <a:solidFill>
            <a:srgbClr val="FFFDF5"/>
          </a:solidFill>
          <a:ln w="25400">
            <a:solidFill>
              <a:srgbClr val="D9770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53712" y="1536192"/>
            <a:ext cx="2103120" cy="256032"/>
          </a:xfrm>
          <a:prstGeom prst="roundRect">
            <a:avLst>
              <a:gd name="adj" fmla="val 21429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53712" y="1536192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KEBUTUHAN LAHAN BARU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553712" y="1874520"/>
            <a:ext cx="3044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Lahan Baru (Pengganti)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53712" y="224028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Lahan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016752" y="2240280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Ekspansi Baru (Tanpa Blok 2)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553712" y="2523744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Luas Lahan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016752" y="2523744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2.200 Ha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553712" y="2807208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Kerapatan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016752" y="2807208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Pohon / Ha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553712" y="3090672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Populasi Pohon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016752" y="3090672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110.000 Pohon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4553712" y="3374136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Usia Rata-rata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6016752" y="3374136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Thn (Puncak 100%)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4553712" y="365760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Yield Panen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016752" y="3657600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Butir / Pohon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4553712" y="3941064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Hasil / 3 Bulan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016752" y="3941064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2.200.000 Butir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4553712" y="4224528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Pasokan Harian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016752" y="4224528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36.667 Butir / HK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4553712" y="4507992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Porsi Target 10%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6016752" y="4507992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91,67% (Penutup Defisit)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8010144" y="1371600"/>
            <a:ext cx="3410712" cy="3566160"/>
          </a:xfrm>
          <a:prstGeom prst="roundRect">
            <a:avLst>
              <a:gd name="adj" fmla="val 2145"/>
            </a:avLst>
          </a:prstGeom>
          <a:solidFill>
            <a:srgbClr val="F0FDF4"/>
          </a:solidFill>
          <a:ln w="25400">
            <a:solidFill>
              <a:srgbClr val="064E3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193024" y="1536192"/>
            <a:ext cx="2103120" cy="256032"/>
          </a:xfrm>
          <a:prstGeom prst="roundRect">
            <a:avLst>
              <a:gd name="adj" fmla="val 21429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193024" y="1536192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PORTOFOLIO MANDIRI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8193024" y="1874520"/>
            <a:ext cx="3044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Portofolio (2 Blok)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8193024" y="224028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Portofolio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9656064" y="2240280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10% Terpenuhi Penuh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8193024" y="2523744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Luas Lahan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9656064" y="2523744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2.400 Ha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8193024" y="2807208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Kerapatan Rata-rata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9656064" y="2807208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Pohon / Ha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8193024" y="3090672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Populasi Pohon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9656064" y="3090672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120.000 Pohon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8193024" y="3374136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Usia Rata-rata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9656064" y="3374136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Thn (Puncak 100%)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8193024" y="365760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Yield Panen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9656064" y="3657600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Butir / Pohon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8193024" y="3941064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Hasil / 3 Bulan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9656064" y="3941064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2.400.000 Butir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8193024" y="4224528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Pasokan Harian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9656064" y="4224528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40.000 Butir / HK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8193024" y="4507992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Porsi Target 10%</a:t>
            </a:r>
            <a:endParaRPr lang="en-US" sz="800" dirty="0"/>
          </a:p>
        </p:txBody>
      </p:sp>
      <p:sp>
        <p:nvSpPr>
          <p:cNvPr id="70" name="Text 68"/>
          <p:cNvSpPr/>
          <p:nvPr/>
        </p:nvSpPr>
        <p:spPr>
          <a:xfrm>
            <a:off x="9656064" y="4507992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100,00% (TUNTAS)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731520" y="5074920"/>
            <a:ext cx="10698480" cy="1143000"/>
          </a:xfrm>
          <a:prstGeom prst="roundRect">
            <a:avLst>
              <a:gd name="adj" fmla="val 6400"/>
            </a:avLst>
          </a:prstGeom>
          <a:solidFill>
            <a:srgbClr val="EFF6FF"/>
          </a:solidFill>
          <a:ln w="19050">
            <a:solidFill>
              <a:srgbClr val="93C5FD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1005840" y="5166360"/>
            <a:ext cx="101498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KOMPARASI STRATEGIS (DENGAN BLOK 2 VS TANPA BLOK 2):
</a:t>
            </a:r>
            <a:pPr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Skenario 3 Blok (Dengan Deal Binjeita 135 Ha @ 58 pohn/Ha): 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Kebutuhan lahan baru 2.044 Ha (Total portofolio 2.379 Ha / 120.030 pohon menghasilkan 2.400.600 butir).
</a:t>
            </a:r>
            <a:pPr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Skenario 2 Blok (Tanpa Deal Binjeita / Murni Blok 1 + Lahan Baru): 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Kebutuhan lahan baru bertambah 156 Ha menjadi 2.200 Ha (Total portofolio 2.400 Ha / 120.000 pohon menghasilkan 2.400.000 butir).
</a:t>
            </a:r>
            <a:pPr indent="0" marL="0">
              <a:buNone/>
            </a:pPr>
            <a:r>
              <a:rPr lang="en-US" sz="850" b="1" i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Kedua skenario sama-sama mencapai 100% target pasokan kebun mandiri (40.000 butir/HK).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731520" y="640080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PERKEBUNAN TMC (MEMBER OF RAI)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4 of 7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PORTOFOLIO KEBUN TMC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836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Matriks Komparasi Portofolio Kumulatif (2.379 Ha)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106984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17320"/>
          <a:ext cx="106984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920240"/>
                <a:gridCol w="1920240"/>
                <a:gridCol w="2194560"/>
                <a:gridCol w="201168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 Parameter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Blok 1 (Kebun TMC)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Blok 2 (Binjeita)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Blok 3 (Lahan Ekspansi)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64E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PORTOFOLIO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Lahan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Eksisting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Deal 135 Ha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Lahan Baru Diperlukan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478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 Target Terpenuhi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Luas Lahan (Ha)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 Ha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 Ha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2.044 Ha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2.379 Ha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Kerapatan Pohon / Ha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Pohon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 Pohon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Pohon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50,5 Pohon (Rata-rata)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Populasi Pohon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7.830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102.200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120.030 Pohon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Usia Rata-rata Pohon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Thn (Puncak 100%)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Thn (Puncak 100%)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Thn (Puncak 100%)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Thn (Puncak 100%)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Yield / Pohon / Panen (3 Bln)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Butir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Butir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Butir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Butir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Hasil / Siklus (3 Bulan)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200.000 Butir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156.600 Butir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2.044.000 Butir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64E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2.400.600 Butir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Pasokan Harian (60 HK)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3.333 Btr/HK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2.610 Btr/HK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34.067 Btr/HK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64E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40.010 Btr/HK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Porsi Pemenuhan Target 10%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8,33%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6,53%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85,17%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64E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100,03% (TUNTAS)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Coverage terhadap Total Pabrik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0,83%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0,65%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8,52%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64E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10,00% (Sesuai Target)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31520" y="640080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PERKEBUNAN TMC (MEMBER OF RAI)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5 of 7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PORTOFOLIO KEBUN TMC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836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Neraca Alokasi Pasokan Pabrik (Siklus &amp; Tahunan)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106984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371600"/>
            <a:ext cx="5212080" cy="3200400"/>
          </a:xfrm>
          <a:prstGeom prst="roundRect">
            <a:avLst>
              <a:gd name="adj" fmla="val 228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5361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ALOKASI PASOKAN / 3 BULAN (SIKLUS PANEN)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14400" y="1965960"/>
            <a:ext cx="4846320" cy="1051560"/>
          </a:xfrm>
          <a:prstGeom prst="roundRect">
            <a:avLst>
              <a:gd name="adj" fmla="val 5217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2057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KEBUN MANDIRI TMC (3 BLOK): 10,00%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1560" y="235915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2.400.600 Butir / 3 Bulan (40.010 Butir / HK)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14400" y="3154680"/>
            <a:ext cx="4846320" cy="1051560"/>
          </a:xfrm>
          <a:prstGeom prst="roundRect">
            <a:avLst>
              <a:gd name="adj" fmla="val 5217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32461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PEMBELIAN DARI PETANI LUAR: 90,00%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51560" y="354787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21.599.400 Butir / 3 Bulan (359.990 Butir / HK)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7920" y="1371600"/>
            <a:ext cx="5212080" cy="3200400"/>
          </a:xfrm>
          <a:prstGeom prst="roundRect">
            <a:avLst>
              <a:gd name="adj" fmla="val 228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15361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ALOKASI PASOKAN TAHUNAN (4x SIKLUS PANEN)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0" y="1965960"/>
            <a:ext cx="4846320" cy="1051560"/>
          </a:xfrm>
          <a:prstGeom prst="roundRect">
            <a:avLst>
              <a:gd name="adj" fmla="val 5217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37960" y="2057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MANDIRI TAHUNAN: 10,00%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537960" y="235915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9.602.400 Butir / Tahun (Buffer Pasokan)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0" y="3154680"/>
            <a:ext cx="4846320" cy="1051560"/>
          </a:xfrm>
          <a:prstGeom prst="roundRect">
            <a:avLst>
              <a:gd name="adj" fmla="val 5217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32461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BELI LUAR TAHUNAN: 90,00%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537960" y="354787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86.397.600 Butir / Tahun (Mitra Petani)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31520" y="4754880"/>
            <a:ext cx="3410712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4892040"/>
            <a:ext cx="3136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KONTROL MUTU &amp; GRADING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68680" y="5257800"/>
            <a:ext cx="313639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Bahan baku dari kebun sendiri terjamin umur petik optimal dan ukuran butir seragam.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370832" y="4754880"/>
            <a:ext cx="3410712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07992" y="4892040"/>
            <a:ext cx="3136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MITIGASI FLUKTUASI HARGA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07992" y="5257800"/>
            <a:ext cx="313639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Menurunkan sensitivitas biaya produksi saat lonjakan harga kelapa di pasar bebas.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8010144" y="4754880"/>
            <a:ext cx="3410712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147304" y="4892040"/>
            <a:ext cx="3136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BUFFER KELANGKAAN PASOKAN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147304" y="5257800"/>
            <a:ext cx="313639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Pabrik tetap dapat beroperasi secara kontinyu saat terjadi kendala panen di petani mitra.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731520" y="640080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PERKEBUNAN TMC (MEMBER OF RAI)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 of 7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PORTOFOLIO KEBUN TMC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836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Kesimpulan Portofolio &amp; Rekomendasi Investasi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106984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17320"/>
            <a:ext cx="106984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417320"/>
            <a:ext cx="137160" cy="1234440"/>
          </a:xfrm>
          <a:prstGeom prst="roundRect">
            <a:avLst>
              <a:gd name="adj" fmla="val 33333"/>
            </a:avLst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581912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00200" y="1581912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Finalisasi Akuisisi Blok 2 (Binjeita 135 Ha)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600200" y="192024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Mempercepat penyelesaian proses kesepakatan (deal) lahan Binjeita seluas 135 Ha dengan estimasi kontribusi 156.600 butir/3 bulan (2.610 butir/HK). Langkah ini menaikkan rasio pasokan mandiri menjadi 14,86% dari target kebun.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31520" y="2788920"/>
            <a:ext cx="106984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2788920"/>
            <a:ext cx="137160" cy="1234440"/>
          </a:xfrm>
          <a:prstGeom prst="roundRect">
            <a:avLst>
              <a:gd name="adj" fmla="val 33333"/>
            </a:avLst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2953512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600200" y="2953512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Alokasi Capex Lahan Ekspansi Blok 3 (2.044 Ha)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00200" y="329184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Mengesahkan penganggaran modal (CAPEX) untuk akuisisi/pembukaan lahan ekspansi Blok 3 seluas 2.044 Ha. Blok 3 adalah penentu utama yang menyumbang 85,17% dari target kebutuhan supply 10% kebun TMC (2.044.000 butir/3 bulan).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31520" y="4160520"/>
            <a:ext cx="106984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4160520"/>
            <a:ext cx="137160" cy="123444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4325112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600200" y="4325112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Standarisasi Agronomi &amp; Infrastruktur Logistik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600200" y="466344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Menerapkan protokol budidaya kelapa produktif terpadu dengan target kerapatan rata-rata 50,5 pohon/Ha dan produktivitas minimal 20 butir/pohon/panen, didukung konektivitas armada angkut langsung menuju pabrik TMC.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731520" y="5623560"/>
            <a:ext cx="10698480" cy="594360"/>
          </a:xfrm>
          <a:prstGeom prst="roundRect">
            <a:avLst>
              <a:gd name="adj" fmla="val 9231"/>
            </a:avLst>
          </a:prstGeom>
          <a:solidFill>
            <a:srgbClr val="ECFDF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5650992"/>
            <a:ext cx="103327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RINGKASAN EKSEKUTIF: Portofolio 3 Blok seluas 2.379 Ha (120.030 pohon) menghasilkan 2.400.600 butir/3 bulan, TUNTAS memenuhi 100% kebutuhan supply perkebunan TMC (10% target harian produksi pabrik 400.000 butir kelapa/hari).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731520" y="640080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PERKEBUNAN TMC (MEMBER OF RAI)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 of 7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TMC Estate Division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PAPARAN ESTIMASI STRATEGIS PORTOFOLIO KEBUN TMC</dc:title>
  <dc:subject>Rencana Pencapaian Target Pasokan Mandiri 10% Pabrik Kelapa Terpadu</dc:subject>
  <dc:creator>PT Tri Mustika Cemerlang (TMC)</dc:creator>
  <cp:lastModifiedBy>PT Tri Mustika Cemerlang (TMC)</cp:lastModifiedBy>
  <cp:revision>1</cp:revision>
  <dcterms:created xsi:type="dcterms:W3CDTF">2026-09-29T19:02:44Z</dcterms:created>
  <dcterms:modified xsi:type="dcterms:W3CDTF">2026-09-29T19:02:44Z</dcterms:modified>
</cp:coreProperties>
</file>